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ravitational Fields" id="{53A428C7-0B77-49A0-8682-39CBF53FD999}">
          <p14:sldIdLst>
            <p14:sldId id="258"/>
          </p14:sldIdLst>
        </p14:section>
        <p14:section name="Electric Fields" id="{46F6DEAF-3F49-4C51-BB69-50B1B6840721}">
          <p14:sldIdLst>
            <p14:sldId id="256"/>
          </p14:sldIdLst>
        </p14:section>
        <p14:section name="Magnetic Fields" id="{D4DFA792-150C-4281-9B3B-CCA2FEE9E6A3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C95646-D58A-4DB9-9B0D-1F4BD71409D4}" v="1" dt="2026-10-22T01:31:11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94610"/>
  </p:normalViewPr>
  <p:slideViewPr>
    <p:cSldViewPr snapToGrid="0">
      <p:cViewPr varScale="1">
        <p:scale>
          <a:sx n="70" d="100"/>
          <a:sy n="70" d="100"/>
        </p:scale>
        <p:origin x="5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Kong" userId="0437ff1f-3cca-4196-b73b-ea59dcd400ee" providerId="ADAL" clId="{4229E69F-EE03-5FAB-BAC3-C6EE43C43143}"/>
    <pc:docChg chg="modSld">
      <pc:chgData name="Nick Kong" userId="0437ff1f-3cca-4196-b73b-ea59dcd400ee" providerId="ADAL" clId="{4229E69F-EE03-5FAB-BAC3-C6EE43C43143}" dt="2026-09-30T01:38:06.387" v="1" actId="1036"/>
      <pc:docMkLst>
        <pc:docMk/>
      </pc:docMkLst>
      <pc:sldChg chg="modSp mod">
        <pc:chgData name="Nick Kong" userId="0437ff1f-3cca-4196-b73b-ea59dcd400ee" providerId="ADAL" clId="{4229E69F-EE03-5FAB-BAC3-C6EE43C43143}" dt="2026-09-30T01:38:06.387" v="1" actId="1036"/>
        <pc:sldMkLst>
          <pc:docMk/>
          <pc:sldMk cId="3704121257" sldId="258"/>
        </pc:sldMkLst>
        <pc:spChg chg="mod">
          <ac:chgData name="Nick Kong" userId="0437ff1f-3cca-4196-b73b-ea59dcd400ee" providerId="ADAL" clId="{4229E69F-EE03-5FAB-BAC3-C6EE43C43143}" dt="2026-09-30T01:38:06.387" v="1" actId="1036"/>
          <ac:spMkLst>
            <pc:docMk/>
            <pc:sldMk cId="3704121257" sldId="258"/>
            <ac:spMk id="8" creationId="{48E1EA19-1A2F-02B1-AC1E-9AD33F2CCEF4}"/>
          </ac:spMkLst>
        </pc:spChg>
      </pc:sldChg>
    </pc:docChg>
  </pc:docChgLst>
  <pc:docChgLst>
    <pc:chgData name="Nick Kong" userId="0437ff1f-3cca-4196-b73b-ea59dcd400ee" providerId="ADAL" clId="{FFB32964-A5A6-435D-813D-E1703E5FDD69}"/>
    <pc:docChg chg="undo custSel addSld modSld sldOrd addSection modSection">
      <pc:chgData name="Nick Kong" userId="0437ff1f-3cca-4196-b73b-ea59dcd400ee" providerId="ADAL" clId="{FFB32964-A5A6-435D-813D-E1703E5FDD69}" dt="2026-10-22T01:31:16.441" v="3930" actId="1076"/>
      <pc:docMkLst>
        <pc:docMk/>
      </pc:docMkLst>
      <pc:sldChg chg="addSp delSp modSp new mod">
        <pc:chgData name="Nick Kong" userId="0437ff1f-3cca-4196-b73b-ea59dcd400ee" providerId="ADAL" clId="{FFB32964-A5A6-435D-813D-E1703E5FDD69}" dt="2026-10-22T01:31:16.441" v="3930" actId="1076"/>
        <pc:sldMkLst>
          <pc:docMk/>
          <pc:sldMk cId="3537800756" sldId="257"/>
        </pc:sldMkLst>
        <pc:spChg chg="add mod">
          <ac:chgData name="Nick Kong" userId="0437ff1f-3cca-4196-b73b-ea59dcd400ee" providerId="ADAL" clId="{FFB32964-A5A6-435D-813D-E1703E5FDD69}" dt="2026-09-23T01:28:04.432" v="3925" actId="1076"/>
          <ac:spMkLst>
            <pc:docMk/>
            <pc:sldMk cId="3537800756" sldId="257"/>
            <ac:spMk id="6" creationId="{1B9C0E7C-1B76-0D86-7C9F-1C2C6D12B150}"/>
          </ac:spMkLst>
        </pc:spChg>
        <pc:picChg chg="add mod">
          <ac:chgData name="Nick Kong" userId="0437ff1f-3cca-4196-b73b-ea59dcd400ee" providerId="ADAL" clId="{FFB32964-A5A6-435D-813D-E1703E5FDD69}" dt="2026-10-22T01:31:16.441" v="3930" actId="1076"/>
          <ac:picMkLst>
            <pc:docMk/>
            <pc:sldMk cId="3537800756" sldId="257"/>
            <ac:picMk id="2" creationId="{1B489C48-5DC9-D396-3A07-C7DDE9089AC5}"/>
          </ac:picMkLst>
        </pc:picChg>
        <pc:picChg chg="del">
          <ac:chgData name="Nick Kong" userId="0437ff1f-3cca-4196-b73b-ea59dcd400ee" providerId="ADAL" clId="{FFB32964-A5A6-435D-813D-E1703E5FDD69}" dt="2026-10-22T01:31:09.145" v="3926" actId="478"/>
          <ac:picMkLst>
            <pc:docMk/>
            <pc:sldMk cId="3537800756" sldId="257"/>
            <ac:picMk id="29" creationId="{A0BF0074-FB75-B7F8-FFFB-EAF6F364E2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CF799-91C8-4719-AC3C-3772FABCDDF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533D1-F9FC-4FC2-AA5D-8E8687F27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4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D469-FEF4-33F0-C91B-C42C0F2AD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732A-F14F-356B-7CD0-2E231E376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BE31B-4B7F-FC4B-8736-2540A40B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832BF-2E15-8F36-A6C4-2F4DFC37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2A7FA-0854-233F-1633-B42BF30D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8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39DD-5AB1-8493-AC61-BDB77EB3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253B-8661-0B40-1F27-F75BFEA3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2804E-7DBA-4C29-3EA9-50AC8851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8453E-B980-0F74-45A4-52695D37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23BAE-DC50-69D6-EC60-0FF33297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1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B7FF-6EFD-93D4-0488-95A752A6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58F6A-226C-617E-FBDF-0E04A238B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D8510-E71C-6D90-C555-D8C440EA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644B7-9658-5F8B-FCA9-8CF63943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4E83-B981-BFF9-38F0-3017A5E3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9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784F-5DF4-67B7-F05E-A2AE51C4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6A1A1-58AA-4C00-3771-35E4D975C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771EB-A211-1F61-DFAF-E4D264BC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CB49F-4186-91DD-ABA8-F36A2E98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3A4AA-C0E4-D112-ADB9-CFBE74C8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68C20-C053-B80A-5887-6A4733953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76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8722-2C1D-4BE3-FF6D-2CE7DE29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A117F-617E-8B6B-0AFB-252499833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5AC4C-63ED-DF11-9FE0-5CFE94C78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CEF3B-3532-24BB-0CD0-EE7236E7E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C4B19-E786-80CE-8DA5-27DD62B09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98205-685F-84E8-ABDB-7B13C41D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011BC-682A-D80E-096E-EF3A4A2E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57BE3-64ED-EE34-192A-AFAEC826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5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601E-10FA-A814-5087-3CBCCC36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1B858-7C94-39F2-E1A6-14176493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BA410-54C3-4D04-12B4-390EBB01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12E10-A884-87A2-7214-A8ADD1D7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9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90756-6527-F67F-10F2-589F7871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5484A-10C5-EEC8-2423-79E77310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FF019-5426-B0FB-E3F6-84EE3493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7F89-1378-CE00-6359-2E0C4F4C3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EC17-E8B6-A366-E773-2B7B878DC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93002-8F19-DAC8-8922-D6BB74064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5EB1-92E5-A0E0-B453-B88B220C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F429B-1158-4550-0D63-464F7F90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E3B0B-7D47-BD39-D650-7AA2C222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3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5737-C5BF-D5CC-F97D-CE1ED8F7C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70561D-5AF0-4019-160C-5335E158B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3DDD6-6DBE-3BEE-6C0D-25AADCE31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3231-1530-921D-6AD8-2431FC2C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2E470-9A41-4E35-3FC3-01AE9666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02F2D-20F4-EFFE-EDA7-E21FBD07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5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39DE-88F0-043D-AD6B-DD3C2093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2CAC6-A7C0-7A6E-AFFB-D33BB89D1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E8CBD-9FB1-5FF7-64DF-F74C2CB76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0E538-BD8F-FBA2-EEED-946FD37B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10286-D855-F540-5DDC-14F18168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2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FF524-0B57-C11C-8900-18DA67741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A9BA1-AA61-A039-DEE6-5EF0D15BF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0AEE2-446F-BCE1-345C-C4F772B5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C1A6E-AB08-1CFD-CF62-159804B5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2282A-783E-CBDD-855E-41E3AA0D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3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ED10A-A311-FCDB-CFCA-C997D4FC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251CC-1DB1-CDEF-87C4-79BBA955A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4EDCF-A61B-40A8-D46F-2F92C4C8A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DF66E-2037-4CB6-8D1A-E8C8C737990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21904-753B-51F1-B4D6-3A02856AF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F735-BB12-ADE0-2931-852B3F384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85261-1B19-4502-862E-6919E91D2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7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0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21.jpeg"/><Relationship Id="rId5" Type="http://schemas.openxmlformats.org/officeDocument/2006/relationships/image" Target="../media/image100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605BC9-ECDB-9666-FA06-6885D7269453}"/>
              </a:ext>
            </a:extLst>
          </p:cNvPr>
          <p:cNvSpPr txBox="1"/>
          <p:nvPr/>
        </p:nvSpPr>
        <p:spPr>
          <a:xfrm>
            <a:off x="5229256" y="211532"/>
            <a:ext cx="1733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Circular Orbits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AA987-A79E-35F1-269C-5ADCA53DF0BA}"/>
              </a:ext>
            </a:extLst>
          </p:cNvPr>
          <p:cNvSpPr txBox="1"/>
          <p:nvPr/>
        </p:nvSpPr>
        <p:spPr>
          <a:xfrm>
            <a:off x="838380" y="1973853"/>
            <a:ext cx="2181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Gravitational Force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AD652-2AF8-A2FD-6039-D551A485FE69}"/>
              </a:ext>
            </a:extLst>
          </p:cNvPr>
          <p:cNvSpPr txBox="1"/>
          <p:nvPr/>
        </p:nvSpPr>
        <p:spPr>
          <a:xfrm>
            <a:off x="8084712" y="211532"/>
            <a:ext cx="329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Gravitational Potential Energy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6C6222-A9C1-F845-FA0D-ABDE8E2B2257}"/>
                  </a:ext>
                </a:extLst>
              </p:cNvPr>
              <p:cNvSpPr txBox="1"/>
              <p:nvPr/>
            </p:nvSpPr>
            <p:spPr>
              <a:xfrm>
                <a:off x="337690" y="2343185"/>
                <a:ext cx="4320135" cy="3587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𝐺𝑀𝑚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𝐺𝑀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=9.81</m:t>
                    </m:r>
                  </m:oMath>
                </a14:m>
                <a:r>
                  <a:rPr lang="en-US" sz="1600" dirty="0"/>
                  <a:t> N kg</a:t>
                </a:r>
                <a:r>
                  <a:rPr lang="en-US" sz="1600" baseline="30000" dirty="0"/>
                  <a:t>-1</a:t>
                </a:r>
                <a:r>
                  <a:rPr lang="en-US" sz="1600" dirty="0"/>
                  <a:t> at Earth’s surface)</a:t>
                </a:r>
              </a:p>
              <a:p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=6.67×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−11</m:t>
                        </m:r>
                      </m:sup>
                    </m:sSup>
                  </m:oMath>
                </a14:m>
                <a:r>
                  <a:rPr lang="en-US" sz="1600" dirty="0"/>
                  <a:t> N m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 kg</a:t>
                </a:r>
                <a:r>
                  <a:rPr lang="en-US" sz="1600" baseline="30000" dirty="0"/>
                  <a:t>-2</a:t>
                </a:r>
              </a:p>
              <a:p>
                <a:endParaRPr lang="en-US" sz="1600" baseline="30000" dirty="0"/>
              </a:p>
              <a:p>
                <a:endParaRPr lang="en-US" sz="1600" b="1" dirty="0"/>
              </a:p>
              <a:p>
                <a:endParaRPr lang="en-US" sz="1600" b="1" dirty="0"/>
              </a:p>
              <a:p>
                <a:endParaRPr lang="en-US" sz="1600" b="1" dirty="0"/>
              </a:p>
              <a:p>
                <a:r>
                  <a:rPr lang="en-US" sz="1600" b="1" dirty="0"/>
                  <a:t>Earth Constants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=5.97×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lang="en-US" sz="1600" dirty="0"/>
                  <a:t> kg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=6.37×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600" dirty="0"/>
                  <a:t> m (distance from </a:t>
                </a:r>
                <a:r>
                  <a:rPr lang="en-US" sz="1600" dirty="0" err="1"/>
                  <a:t>centre</a:t>
                </a:r>
                <a:r>
                  <a:rPr lang="en-US" sz="1600" dirty="0"/>
                  <a:t> to Earth’s surface)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6C6222-A9C1-F845-FA0D-ABDE8E2B2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90" y="2343185"/>
                <a:ext cx="4320135" cy="3587008"/>
              </a:xfrm>
              <a:prstGeom prst="rect">
                <a:avLst/>
              </a:prstGeom>
              <a:blipFill>
                <a:blip r:embed="rId2"/>
                <a:stretch>
                  <a:fillRect l="-705" b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E1EA19-1A2F-02B1-AC1E-9AD33F2CCEF4}"/>
                  </a:ext>
                </a:extLst>
              </p:cNvPr>
              <p:cNvSpPr txBox="1"/>
              <p:nvPr/>
            </p:nvSpPr>
            <p:spPr>
              <a:xfrm>
                <a:off x="4793143" y="598448"/>
                <a:ext cx="2968800" cy="5477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𝐺𝑀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b="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𝐺𝑀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 algn="ctr"/>
                <a:r>
                  <a:rPr lang="en-US" sz="1600" dirty="0"/>
                  <a:t>Independent of satellite mass</a:t>
                </a:r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E1EA19-1A2F-02B1-AC1E-9AD33F2CC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143" y="598448"/>
                <a:ext cx="2968800" cy="54774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B039EB1-2734-97B2-A9BC-2A8F11ED2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445" y="2549439"/>
            <a:ext cx="3429640" cy="11574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CCFAB1-F2E1-32F8-F692-E859460E0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77" y="211532"/>
            <a:ext cx="4552766" cy="15816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E3E90F-689A-DE6C-B9D6-D11E220D0DB0}"/>
              </a:ext>
            </a:extLst>
          </p:cNvPr>
          <p:cNvSpPr txBox="1"/>
          <p:nvPr/>
        </p:nvSpPr>
        <p:spPr>
          <a:xfrm>
            <a:off x="1057606" y="211532"/>
            <a:ext cx="27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Gravitational Field Lines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970FB6-D7A3-B460-CBE6-E9973CA16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7597" y="5672430"/>
            <a:ext cx="1576189" cy="10951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2460F9A-4EF7-5E4A-77A1-DF3EF9CC412E}"/>
                  </a:ext>
                </a:extLst>
              </p:cNvPr>
              <p:cNvSpPr txBox="1"/>
              <p:nvPr/>
            </p:nvSpPr>
            <p:spPr>
              <a:xfrm>
                <a:off x="8084712" y="724245"/>
                <a:ext cx="3342355" cy="2328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Cambria Math" panose="02040503050406030204" pitchFamily="18" charset="0"/>
                  </a:rPr>
                  <a:t>When height changes are minimal, g is assumed constant:</a:t>
                </a:r>
              </a:p>
              <a:p>
                <a:endParaRPr lang="en-US" sz="16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𝑚𝑔ℎ</m:t>
                      </m:r>
                    </m:oMath>
                  </m:oMathPara>
                </a14:m>
                <a:endParaRPr lang="en-US" sz="1600" b="0" dirty="0"/>
              </a:p>
              <a:p>
                <a:endParaRPr lang="en-US" sz="1600" dirty="0"/>
              </a:p>
              <a:p>
                <a:r>
                  <a:rPr lang="en-US" sz="1600" dirty="0"/>
                  <a:t>When height changes are significant and g must be considered:</a:t>
                </a:r>
                <a:endParaRPr lang="en-US" sz="1600" b="0" dirty="0"/>
              </a:p>
              <a:p>
                <a:endParaRPr lang="en-US" sz="1600" dirty="0"/>
              </a:p>
              <a:p>
                <a:endParaRPr lang="en-US" sz="16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2460F9A-4EF7-5E4A-77A1-DF3EF9CC4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712" y="724245"/>
                <a:ext cx="3342355" cy="2328330"/>
              </a:xfrm>
              <a:prstGeom prst="rect">
                <a:avLst/>
              </a:prstGeom>
              <a:blipFill>
                <a:blip r:embed="rId7"/>
                <a:stretch>
                  <a:fillRect l="-911" t="-1047" r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5D0089-2B9B-8150-CC64-4C44E6C7273B}"/>
                  </a:ext>
                </a:extLst>
              </p:cNvPr>
              <p:cNvSpPr txBox="1"/>
              <p:nvPr/>
            </p:nvSpPr>
            <p:spPr>
              <a:xfrm>
                <a:off x="8292859" y="3733848"/>
                <a:ext cx="1152525" cy="1343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b="0" dirty="0"/>
                  <a:t> area under force-distance graph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5D0089-2B9B-8150-CC64-4C44E6C72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859" y="3733848"/>
                <a:ext cx="1152525" cy="1343445"/>
              </a:xfrm>
              <a:prstGeom prst="rect">
                <a:avLst/>
              </a:prstGeom>
              <a:blipFill>
                <a:blip r:embed="rId8"/>
                <a:stretch>
                  <a:fillRect l="-2646" t="-90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4019F7-F24C-C288-7469-F820886D7DB5}"/>
                  </a:ext>
                </a:extLst>
              </p:cNvPr>
              <p:cNvSpPr txBox="1"/>
              <p:nvPr/>
            </p:nvSpPr>
            <p:spPr>
              <a:xfrm>
                <a:off x="9983230" y="3753538"/>
                <a:ext cx="1720176" cy="851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b="0" dirty="0"/>
                  <a:t> area under g-distance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6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4019F7-F24C-C288-7469-F820886D7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230" y="3753538"/>
                <a:ext cx="1720176" cy="851002"/>
              </a:xfrm>
              <a:prstGeom prst="rect">
                <a:avLst/>
              </a:prstGeom>
              <a:blipFill>
                <a:blip r:embed="rId9"/>
                <a:stretch>
                  <a:fillRect l="-2128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304BCF-2063-1E13-69F7-768016A23E20}"/>
              </a:ext>
            </a:extLst>
          </p:cNvPr>
          <p:cNvCxnSpPr/>
          <p:nvPr/>
        </p:nvCxnSpPr>
        <p:spPr>
          <a:xfrm>
            <a:off x="4802668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6CC43C-AAA0-53D9-34FE-89EEBE0E894E}"/>
              </a:ext>
            </a:extLst>
          </p:cNvPr>
          <p:cNvCxnSpPr/>
          <p:nvPr/>
        </p:nvCxnSpPr>
        <p:spPr>
          <a:xfrm>
            <a:off x="7745893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3025C2E-0024-7BA7-33F5-A01D84A4EA10}"/>
              </a:ext>
            </a:extLst>
          </p:cNvPr>
          <p:cNvSpPr txBox="1"/>
          <p:nvPr/>
        </p:nvSpPr>
        <p:spPr>
          <a:xfrm>
            <a:off x="8016529" y="5844272"/>
            <a:ext cx="34296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Conventions</a:t>
            </a:r>
          </a:p>
          <a:p>
            <a:r>
              <a:rPr lang="en-US" sz="1800" dirty="0"/>
              <a:t>M = mass of the larger object</a:t>
            </a:r>
          </a:p>
          <a:p>
            <a:r>
              <a:rPr lang="en-US" sz="1800" dirty="0"/>
              <a:t>m = mass of the smaller object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A44B64-8115-2B5F-C575-7DC8B373DA0B}"/>
              </a:ext>
            </a:extLst>
          </p:cNvPr>
          <p:cNvCxnSpPr>
            <a:cxnSpLocks/>
          </p:cNvCxnSpPr>
          <p:nvPr/>
        </p:nvCxnSpPr>
        <p:spPr>
          <a:xfrm>
            <a:off x="7745893" y="5844272"/>
            <a:ext cx="44461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461C9B96-A2F7-5D98-5B1B-36FBD0AFD8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8703" y="4388207"/>
            <a:ext cx="2349593" cy="14998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D36FB9-F544-BC1F-0B68-7A5E4BE2634C}"/>
              </a:ext>
            </a:extLst>
          </p:cNvPr>
          <p:cNvSpPr txBox="1"/>
          <p:nvPr/>
        </p:nvSpPr>
        <p:spPr>
          <a:xfrm rot="16200000">
            <a:off x="-927461" y="5557584"/>
            <a:ext cx="2224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Gravitational Fields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12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D24B57-7A8A-06EF-C07D-6034B05BF75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A39CE11-7D7D-9770-891A-DE4373007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01" y="833285"/>
            <a:ext cx="2867425" cy="166710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5F4C-D4FB-BE0E-6EF1-37F082BD54B8}"/>
              </a:ext>
            </a:extLst>
          </p:cNvPr>
          <p:cNvGrpSpPr/>
          <p:nvPr/>
        </p:nvGrpSpPr>
        <p:grpSpPr>
          <a:xfrm>
            <a:off x="8392468" y="980944"/>
            <a:ext cx="1876687" cy="1371791"/>
            <a:chOff x="8510456" y="383362"/>
            <a:chExt cx="1876687" cy="137179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C16AF0-940C-F72D-77CB-99D97E7A0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10456" y="383362"/>
              <a:ext cx="1876687" cy="13717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8A2E29-52B4-E743-24EF-66C8C5DE3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1540" y="713287"/>
              <a:ext cx="171617" cy="171617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BE13911-A343-ED01-37C1-3D6E6A1C84ED}"/>
              </a:ext>
            </a:extLst>
          </p:cNvPr>
          <p:cNvSpPr txBox="1"/>
          <p:nvPr/>
        </p:nvSpPr>
        <p:spPr>
          <a:xfrm>
            <a:off x="696353" y="36871"/>
            <a:ext cx="4408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Non-uniform electric field</a:t>
            </a:r>
          </a:p>
          <a:p>
            <a:pPr algn="ctr"/>
            <a:r>
              <a:rPr lang="en-US" dirty="0"/>
              <a:t>(Non-constant field strength and direction)</a:t>
            </a:r>
          </a:p>
          <a:p>
            <a:pPr algn="ctr"/>
            <a:r>
              <a:rPr lang="en-US" dirty="0"/>
              <a:t>(Point charges)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F5E9D-6032-4AFA-3759-496BC8BF3D2F}"/>
              </a:ext>
            </a:extLst>
          </p:cNvPr>
          <p:cNvSpPr txBox="1"/>
          <p:nvPr/>
        </p:nvSpPr>
        <p:spPr>
          <a:xfrm>
            <a:off x="7229269" y="57614"/>
            <a:ext cx="3951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Uniform electric field</a:t>
            </a:r>
          </a:p>
          <a:p>
            <a:r>
              <a:rPr lang="en-US" dirty="0"/>
              <a:t>(Constant field strength and direction)</a:t>
            </a:r>
          </a:p>
          <a:p>
            <a:pPr algn="ctr"/>
            <a:r>
              <a:rPr lang="en-US" dirty="0"/>
              <a:t>(Plates)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1B025A-9E85-79DA-985A-199EC145D457}"/>
                  </a:ext>
                </a:extLst>
              </p:cNvPr>
              <p:cNvSpPr txBox="1"/>
              <p:nvPr/>
            </p:nvSpPr>
            <p:spPr>
              <a:xfrm>
                <a:off x="334296" y="2714660"/>
                <a:ext cx="5683159" cy="2450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𝐸𝑞</m:t>
                    </m:r>
                  </m:oMath>
                </a14:m>
                <a:r>
                  <a:rPr lang="en-US" dirty="0"/>
                  <a:t> (Electrostatic force (attract/repel)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𝑘𝑞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(Electric field strength (force on a +1 C charge))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=8.99×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1600" dirty="0"/>
                  <a:t> N m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 C</a:t>
                </a:r>
                <a:r>
                  <a:rPr lang="en-US" sz="1600" baseline="30000" dirty="0"/>
                  <a:t>-2</a:t>
                </a:r>
                <a:r>
                  <a:rPr lang="en-US" sz="16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=1.6×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−19</m:t>
                        </m:r>
                      </m:sup>
                    </m:sSup>
                  </m:oMath>
                </a14:m>
                <a:r>
                  <a:rPr lang="en-US" sz="1600" dirty="0"/>
                  <a:t> C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W = area under force-distance graph (electric potential energy)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1B025A-9E85-79DA-985A-199EC145D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96" y="2714660"/>
                <a:ext cx="5683159" cy="2450094"/>
              </a:xfrm>
              <a:prstGeom prst="rect">
                <a:avLst/>
              </a:prstGeom>
              <a:blipFill>
                <a:blip r:embed="rId5"/>
                <a:stretch>
                  <a:fillRect l="-644" b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This diagram shows an electric force-versus distance graph, in the shape of an inverse-square law. An area under the curve between points A and B is shaded, and labelled as the work done.">
            <a:extLst>
              <a:ext uri="{FF2B5EF4-FFF2-40B4-BE49-F238E27FC236}">
                <a16:creationId xmlns:a16="http://schemas.microsoft.com/office/drawing/2014/main" id="{75FAE233-3F55-4664-8383-90C1E8901F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97" y="5147576"/>
            <a:ext cx="2407220" cy="1604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2BC959-F907-3B03-0D2C-418B16DE5236}"/>
                  </a:ext>
                </a:extLst>
              </p:cNvPr>
              <p:cNvSpPr txBox="1"/>
              <p:nvPr/>
            </p:nvSpPr>
            <p:spPr>
              <a:xfrm>
                <a:off x="6334012" y="2714660"/>
                <a:ext cx="5857988" cy="1780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𝐸𝑞</m:t>
                    </m:r>
                  </m:oMath>
                </a14:m>
                <a:r>
                  <a:rPr lang="en-US" dirty="0"/>
                  <a:t> (Electrostatic force (attract/repel)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dirty="0"/>
                  <a:t> (Electric field strength (force on a +1 C charge))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(electric potential energy)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(conversion to kinetic)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2BC959-F907-3B03-0D2C-418B16DE5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012" y="2714660"/>
                <a:ext cx="5857988" cy="1780616"/>
              </a:xfrm>
              <a:prstGeom prst="rect">
                <a:avLst/>
              </a:prstGeom>
              <a:blipFill>
                <a:blip r:embed="rId7"/>
                <a:stretch>
                  <a:fillRect r="-312" b="-1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5795566-6389-9375-D693-9215BEB83F9A}"/>
              </a:ext>
            </a:extLst>
          </p:cNvPr>
          <p:cNvSpPr txBox="1"/>
          <p:nvPr/>
        </p:nvSpPr>
        <p:spPr>
          <a:xfrm rot="16200000">
            <a:off x="-654859" y="5833809"/>
            <a:ext cx="1679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Electric Fields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49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DE8357-37B7-C6AB-717B-C1B17AA24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56" y="1129997"/>
            <a:ext cx="1609950" cy="1400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327ADF-3281-3543-8EE3-12DCE22F0BE0}"/>
              </a:ext>
            </a:extLst>
          </p:cNvPr>
          <p:cNvSpPr txBox="1"/>
          <p:nvPr/>
        </p:nvSpPr>
        <p:spPr>
          <a:xfrm>
            <a:off x="161100" y="437886"/>
            <a:ext cx="2035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Charged Particle in Magnetic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9C0E7C-1B76-0D86-7C9F-1C2C6D12B150}"/>
                  </a:ext>
                </a:extLst>
              </p:cNvPr>
              <p:cNvSpPr txBox="1"/>
              <p:nvPr/>
            </p:nvSpPr>
            <p:spPr>
              <a:xfrm>
                <a:off x="-8735" y="2632713"/>
                <a:ext cx="2035278" cy="11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𝐵𝑣𝑞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9C0E7C-1B76-0D86-7C9F-1C2C6D12B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735" y="2632713"/>
                <a:ext cx="2035278" cy="11678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BB35CC8-B5FF-3E4F-FB7C-3E73A4BD7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7" y="3846699"/>
            <a:ext cx="1981793" cy="1532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2FFB01-54D9-6B6B-3377-DEEBCCF09681}"/>
              </a:ext>
            </a:extLst>
          </p:cNvPr>
          <p:cNvSpPr txBox="1"/>
          <p:nvPr/>
        </p:nvSpPr>
        <p:spPr>
          <a:xfrm>
            <a:off x="304063" y="5425235"/>
            <a:ext cx="19114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Right-hand</a:t>
            </a:r>
          </a:p>
          <a:p>
            <a:pPr algn="ctr"/>
            <a:r>
              <a:rPr lang="en-US" dirty="0"/>
              <a:t>slap rule</a:t>
            </a:r>
          </a:p>
          <a:p>
            <a:pPr algn="ctr"/>
            <a:r>
              <a:rPr lang="en-US" sz="1600" dirty="0"/>
              <a:t>(for + charge)</a:t>
            </a:r>
          </a:p>
          <a:p>
            <a:pPr algn="ctr"/>
            <a:r>
              <a:rPr lang="en-US" sz="1600" dirty="0"/>
              <a:t>(flip for – charge)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40686D-2255-3858-5408-6ACC5A67250D}"/>
              </a:ext>
            </a:extLst>
          </p:cNvPr>
          <p:cNvCxnSpPr>
            <a:cxnSpLocks/>
          </p:cNvCxnSpPr>
          <p:nvPr/>
        </p:nvCxnSpPr>
        <p:spPr>
          <a:xfrm>
            <a:off x="2262900" y="437886"/>
            <a:ext cx="42763" cy="643020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115CB8-218C-2B70-1643-F2B68B502DD7}"/>
              </a:ext>
            </a:extLst>
          </p:cNvPr>
          <p:cNvSpPr txBox="1"/>
          <p:nvPr/>
        </p:nvSpPr>
        <p:spPr>
          <a:xfrm>
            <a:off x="2232919" y="412879"/>
            <a:ext cx="287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Current-Flowing Wire</a:t>
            </a:r>
          </a:p>
          <a:p>
            <a:pPr algn="ctr"/>
            <a:r>
              <a:rPr lang="en-US" b="1" dirty="0"/>
              <a:t>in Magnetic Field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27DA91-8EA8-408D-588F-FFA8B8652345}"/>
              </a:ext>
            </a:extLst>
          </p:cNvPr>
          <p:cNvSpPr txBox="1"/>
          <p:nvPr/>
        </p:nvSpPr>
        <p:spPr>
          <a:xfrm>
            <a:off x="10052322" y="500364"/>
            <a:ext cx="1889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Current-Flowing Solenoid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F6CEE-DD7D-FBE2-4E0F-A6135E4C1C5F}"/>
              </a:ext>
            </a:extLst>
          </p:cNvPr>
          <p:cNvSpPr txBox="1"/>
          <p:nvPr/>
        </p:nvSpPr>
        <p:spPr>
          <a:xfrm>
            <a:off x="2380357" y="4358096"/>
            <a:ext cx="140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DC Motors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6CE9E0-9DB8-D23D-2BC7-09C3AF596FDB}"/>
              </a:ext>
            </a:extLst>
          </p:cNvPr>
          <p:cNvCxnSpPr>
            <a:cxnSpLocks/>
          </p:cNvCxnSpPr>
          <p:nvPr/>
        </p:nvCxnSpPr>
        <p:spPr>
          <a:xfrm flipH="1">
            <a:off x="6383509" y="0"/>
            <a:ext cx="3996" cy="42253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8DFD73-72F3-8F9C-E027-A0DF1C561368}"/>
                  </a:ext>
                </a:extLst>
              </p:cNvPr>
              <p:cNvSpPr txBox="1"/>
              <p:nvPr/>
            </p:nvSpPr>
            <p:spPr>
              <a:xfrm>
                <a:off x="2633016" y="1074438"/>
                <a:ext cx="20352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𝑛𝐵𝐼𝑙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8DFD73-72F3-8F9C-E027-A0DF1C561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016" y="1074438"/>
                <a:ext cx="20352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82F62F2-9D3D-CBF5-5EA8-C6A67FA3F1B1}"/>
              </a:ext>
            </a:extLst>
          </p:cNvPr>
          <p:cNvSpPr txBox="1"/>
          <p:nvPr/>
        </p:nvSpPr>
        <p:spPr>
          <a:xfrm>
            <a:off x="6433524" y="482643"/>
            <a:ext cx="2334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Current-Flowing Wire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9F630D-F688-9500-7DDE-CD39B377F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844" y="2731494"/>
            <a:ext cx="2036180" cy="15744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1E66C84-4CFF-2C2F-8F90-035E82688818}"/>
              </a:ext>
            </a:extLst>
          </p:cNvPr>
          <p:cNvSpPr txBox="1"/>
          <p:nvPr/>
        </p:nvSpPr>
        <p:spPr>
          <a:xfrm>
            <a:off x="4360240" y="3216806"/>
            <a:ext cx="15042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Right-hand slap rule</a:t>
            </a:r>
          </a:p>
          <a:p>
            <a:r>
              <a:rPr lang="en-US" sz="1400" dirty="0"/>
              <a:t>(conventional current)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CBDB88-2844-642B-22F8-F2FE395A6803}"/>
                  </a:ext>
                </a:extLst>
              </p:cNvPr>
              <p:cNvSpPr txBox="1"/>
              <p:nvPr/>
            </p:nvSpPr>
            <p:spPr>
              <a:xfrm>
                <a:off x="2466159" y="4623887"/>
                <a:ext cx="396736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Split ring commutator: a device that reverses the current in the coil every half-turn so the coil continues to rotate in the same direction.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Brushes: stationary conducting contacts that maintain electrical contact between the external circuit and the rotating commutator (DC)/slip ring (AC) which allow it to rotate freely.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Torque: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𝐹𝑟</m:t>
                    </m:r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↑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400" dirty="0"/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CBDB88-2844-642B-22F8-F2FE395A6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159" y="4623887"/>
                <a:ext cx="3967365" cy="2246769"/>
              </a:xfrm>
              <a:prstGeom prst="rect">
                <a:avLst/>
              </a:prstGeom>
              <a:blipFill>
                <a:blip r:embed="rId6"/>
                <a:stretch>
                  <a:fillRect l="-462" t="-543" r="-923" b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C4A8729B-1A89-991A-77F8-843AB8BFB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7368" y="4829946"/>
            <a:ext cx="3714954" cy="18778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35DFBF-7613-8C35-28E2-05A5D1C5F2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8407" y="1116340"/>
            <a:ext cx="1302502" cy="11834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430764D-0433-1BDB-085C-8808C7BD8A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9741" y="2221978"/>
            <a:ext cx="1331343" cy="11834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950AF29-BFFD-2922-5995-7762DCC2E886}"/>
              </a:ext>
            </a:extLst>
          </p:cNvPr>
          <p:cNvSpPr txBox="1"/>
          <p:nvPr/>
        </p:nvSpPr>
        <p:spPr>
          <a:xfrm>
            <a:off x="6712391" y="3303510"/>
            <a:ext cx="22180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Right-hand grip rule for wires </a:t>
            </a:r>
            <a:r>
              <a:rPr lang="en-US" sz="1600" dirty="0"/>
              <a:t>(conventional current)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EB5334-4366-2BEA-3BCA-D454C11E3967}"/>
              </a:ext>
            </a:extLst>
          </p:cNvPr>
          <p:cNvSpPr txBox="1"/>
          <p:nvPr/>
        </p:nvSpPr>
        <p:spPr>
          <a:xfrm>
            <a:off x="10149508" y="4282303"/>
            <a:ext cx="20079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Conventions</a:t>
            </a:r>
            <a:endParaRPr lang="en-US" sz="1600" dirty="0"/>
          </a:p>
          <a:p>
            <a:r>
              <a:rPr lang="en-US" sz="1600" dirty="0"/>
              <a:t>x = into the page</a:t>
            </a:r>
          </a:p>
          <a:p>
            <a:r>
              <a:rPr lang="en-US" sz="1600" dirty="0"/>
              <a:t>o = out of the page</a:t>
            </a:r>
          </a:p>
          <a:p>
            <a:endParaRPr lang="en-US" sz="1600" dirty="0"/>
          </a:p>
          <a:p>
            <a:r>
              <a:rPr lang="en-US" sz="1600" dirty="0"/>
              <a:t>| </a:t>
            </a:r>
            <a:r>
              <a:rPr lang="en-US" sz="1100" dirty="0"/>
              <a:t>| </a:t>
            </a:r>
            <a:r>
              <a:rPr lang="en-US" sz="1600" dirty="0"/>
              <a:t>  Larger battery terminal is positive</a:t>
            </a:r>
          </a:p>
          <a:p>
            <a:endParaRPr lang="en-US" sz="1600" dirty="0"/>
          </a:p>
          <a:p>
            <a:r>
              <a:rPr lang="en-US" sz="1600" dirty="0"/>
              <a:t>Hand rules are for positive charges and conventional current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B4F28A-40B3-8485-5D4A-5D49AEF2035A}"/>
              </a:ext>
            </a:extLst>
          </p:cNvPr>
          <p:cNvSpPr txBox="1"/>
          <p:nvPr/>
        </p:nvSpPr>
        <p:spPr>
          <a:xfrm>
            <a:off x="9887944" y="3274180"/>
            <a:ext cx="22180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Right-hand grip rule for solenoids </a:t>
            </a:r>
            <a:r>
              <a:rPr lang="en-US" sz="1600" dirty="0"/>
              <a:t>(conventional current)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D66A39-6195-3F79-D8BA-7A5866A43A33}"/>
              </a:ext>
            </a:extLst>
          </p:cNvPr>
          <p:cNvSpPr txBox="1"/>
          <p:nvPr/>
        </p:nvSpPr>
        <p:spPr>
          <a:xfrm>
            <a:off x="430717" y="28319"/>
            <a:ext cx="475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Moving Charges in a Uniform Magnetic Field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E8D7E7-5E3D-0F51-F0C5-20027946E966}"/>
              </a:ext>
            </a:extLst>
          </p:cNvPr>
          <p:cNvSpPr txBox="1"/>
          <p:nvPr/>
        </p:nvSpPr>
        <p:spPr>
          <a:xfrm>
            <a:off x="6591664" y="28319"/>
            <a:ext cx="501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Moving Charges Creating a Magnetic Field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B005C0A-41E0-CD0A-B6E1-56CD95F0C7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3042" y="1480339"/>
            <a:ext cx="2911121" cy="1219524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1202B34-4245-A0E9-C594-C2F955A1B9AD}"/>
              </a:ext>
            </a:extLst>
          </p:cNvPr>
          <p:cNvCxnSpPr>
            <a:cxnSpLocks/>
          </p:cNvCxnSpPr>
          <p:nvPr/>
        </p:nvCxnSpPr>
        <p:spPr>
          <a:xfrm>
            <a:off x="10133598" y="4249527"/>
            <a:ext cx="0" cy="27039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D59121-EE75-AFF7-0739-315B43649248}"/>
              </a:ext>
            </a:extLst>
          </p:cNvPr>
          <p:cNvCxnSpPr>
            <a:cxnSpLocks/>
          </p:cNvCxnSpPr>
          <p:nvPr/>
        </p:nvCxnSpPr>
        <p:spPr>
          <a:xfrm>
            <a:off x="6383509" y="4225391"/>
            <a:ext cx="5804495" cy="27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34FC27A-B844-CCFD-4D00-477149DD1EF6}"/>
              </a:ext>
            </a:extLst>
          </p:cNvPr>
          <p:cNvCxnSpPr>
            <a:cxnSpLocks/>
          </p:cNvCxnSpPr>
          <p:nvPr/>
        </p:nvCxnSpPr>
        <p:spPr>
          <a:xfrm>
            <a:off x="9285757" y="437886"/>
            <a:ext cx="39370" cy="375836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CCEC0AC-095D-70AB-51F3-4BEC37551693}"/>
              </a:ext>
            </a:extLst>
          </p:cNvPr>
          <p:cNvSpPr txBox="1"/>
          <p:nvPr/>
        </p:nvSpPr>
        <p:spPr>
          <a:xfrm rot="16200000">
            <a:off x="-731802" y="5766951"/>
            <a:ext cx="183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Magnetic Fields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1" descr="Solenoid Magnetic Field: Definition and Equation">
            <a:extLst>
              <a:ext uri="{FF2B5EF4-FFF2-40B4-BE49-F238E27FC236}">
                <a16:creationId xmlns:a16="http://schemas.microsoft.com/office/drawing/2014/main" id="{1B489C48-5DC9-D396-3A07-C7DDE9089A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96610" y="1233034"/>
            <a:ext cx="2609399" cy="17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0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17960</TotalTime>
  <Words>439</Words>
  <Application>Microsoft Office PowerPoint</Application>
  <PresentationFormat>Widescreen</PresentationFormat>
  <Paragraphs>93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Kong</dc:creator>
  <cp:lastModifiedBy>Nick Kong</cp:lastModifiedBy>
  <cp:revision>1</cp:revision>
  <cp:lastPrinted>2026-03-24T02:12:54Z</cp:lastPrinted>
  <dcterms:created xsi:type="dcterms:W3CDTF">2026-03-17T21:22:23Z</dcterms:created>
  <dcterms:modified xsi:type="dcterms:W3CDTF">2026-10-22T01:31:18Z</dcterms:modified>
</cp:coreProperties>
</file>